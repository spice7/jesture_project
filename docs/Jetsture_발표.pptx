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3A3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 dirty="0" err="1">
                <a:solidFill>
                  <a:srgbClr val="8399FF"/>
                </a:solidFill>
                <a:latin typeface="Consolas"/>
              </a:rPr>
              <a:t>경기</a:t>
            </a:r>
            <a:r>
              <a:rPr sz="1300" b="1" spc="140" dirty="0">
                <a:solidFill>
                  <a:srgbClr val="8399FF"/>
                </a:solidFill>
                <a:latin typeface="Consolas"/>
              </a:rPr>
              <a:t> AI </a:t>
            </a:r>
            <a:r>
              <a:rPr sz="1300" b="1" spc="140" dirty="0" err="1">
                <a:solidFill>
                  <a:srgbClr val="8399FF"/>
                </a:solidFill>
                <a:latin typeface="Consolas"/>
              </a:rPr>
              <a:t>멤버십</a:t>
            </a:r>
            <a:r>
              <a:rPr sz="1300" b="1" spc="140" dirty="0">
                <a:solidFill>
                  <a:srgbClr val="8399FF"/>
                </a:solidFill>
                <a:latin typeface="Consolas"/>
              </a:rPr>
              <a:t> </a:t>
            </a:r>
            <a:r>
              <a:rPr sz="1300" b="1" spc="140">
                <a:solidFill>
                  <a:srgbClr val="8399FF"/>
                </a:solidFill>
                <a:latin typeface="Consolas"/>
              </a:rPr>
              <a:t>4팀 </a:t>
            </a:r>
            <a:r>
              <a:rPr sz="1300" b="1" spc="140" dirty="0" err="1">
                <a:solidFill>
                  <a:srgbClr val="8399FF"/>
                </a:solidFill>
                <a:latin typeface="Consolas"/>
              </a:rPr>
              <a:t>프로젝트</a:t>
            </a:r>
            <a:endParaRPr sz="1300" b="1" spc="140" dirty="0">
              <a:solidFill>
                <a:srgbClr val="8399FF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9AA0AC"/>
                </a:solidFill>
                <a:latin typeface="Consolas"/>
              </a:rPr>
              <a:t>01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9AA0AC"/>
                </a:solidFill>
                <a:latin typeface="Consolas"/>
              </a:rPr>
              <a:t>2026.09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9052560" y="3566160"/>
            <a:ext cx="457200" cy="1325880"/>
          </a:xfrm>
          <a:prstGeom prst="bentConnector3">
            <a:avLst/>
          </a:prstGeom>
          <a:ln w="13970">
            <a:solidFill>
              <a:srgbClr val="2B3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8595360" y="3977639"/>
            <a:ext cx="914400" cy="914401"/>
          </a:xfrm>
          <a:prstGeom prst="bentConnector3">
            <a:avLst/>
          </a:prstGeom>
          <a:ln w="13970">
            <a:solidFill>
              <a:srgbClr val="2B3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189720" y="3977639"/>
            <a:ext cx="320040" cy="914401"/>
          </a:xfrm>
          <a:prstGeom prst="bentConnector3">
            <a:avLst/>
          </a:prstGeom>
          <a:ln w="13970">
            <a:solidFill>
              <a:srgbClr val="2B3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509760" y="3703320"/>
            <a:ext cx="137160" cy="1188720"/>
          </a:xfrm>
          <a:prstGeom prst="bentConnector3">
            <a:avLst/>
          </a:prstGeom>
          <a:ln w="13970">
            <a:solidFill>
              <a:srgbClr val="2B3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509760" y="4114800"/>
            <a:ext cx="457200" cy="777240"/>
          </a:xfrm>
          <a:prstGeom prst="bentConnector3">
            <a:avLst/>
          </a:prstGeom>
          <a:ln w="13970">
            <a:solidFill>
              <a:srgbClr val="2B3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509760" y="3291840"/>
            <a:ext cx="640080" cy="1600200"/>
          </a:xfrm>
          <a:prstGeom prst="bentConnector3">
            <a:avLst/>
          </a:prstGeom>
          <a:ln w="13970">
            <a:solidFill>
              <a:srgbClr val="2B3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09760" y="3566160"/>
            <a:ext cx="1005840" cy="1325880"/>
          </a:xfrm>
          <a:prstGeom prst="bentConnector3">
            <a:avLst/>
          </a:prstGeom>
          <a:ln w="13970">
            <a:solidFill>
              <a:srgbClr val="2B3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509760" y="2926080"/>
            <a:ext cx="182880" cy="1965960"/>
          </a:xfrm>
          <a:prstGeom prst="bentConnector3">
            <a:avLst/>
          </a:prstGeom>
          <a:ln w="13970">
            <a:solidFill>
              <a:srgbClr val="2B3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509760" y="4754880"/>
            <a:ext cx="822960" cy="137160"/>
          </a:xfrm>
          <a:prstGeom prst="bentConnector3">
            <a:avLst/>
          </a:prstGeom>
          <a:ln w="13970">
            <a:solidFill>
              <a:srgbClr val="2B3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955279" y="4892040"/>
            <a:ext cx="1554481" cy="0"/>
          </a:xfrm>
          <a:prstGeom prst="bentConnector3">
            <a:avLst/>
          </a:prstGeom>
          <a:ln w="13970">
            <a:solidFill>
              <a:srgbClr val="2B3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412480" y="4892040"/>
            <a:ext cx="1097280" cy="228600"/>
          </a:xfrm>
          <a:prstGeom prst="bentConnector3">
            <a:avLst/>
          </a:prstGeom>
          <a:ln w="13970">
            <a:solidFill>
              <a:srgbClr val="2B3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509760" y="4892040"/>
            <a:ext cx="685800" cy="0"/>
          </a:xfrm>
          <a:prstGeom prst="bentConnector3">
            <a:avLst/>
          </a:prstGeom>
          <a:ln w="13970">
            <a:solidFill>
              <a:srgbClr val="2B3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445752" y="4828031"/>
            <a:ext cx="128016" cy="128016"/>
          </a:xfrm>
          <a:prstGeom prst="ellipse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011412" y="3525012"/>
            <a:ext cx="82296" cy="82296"/>
          </a:xfrm>
          <a:prstGeom prst="ellipse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54212" y="3936491"/>
            <a:ext cx="82296" cy="82296"/>
          </a:xfrm>
          <a:prstGeom prst="ellipse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8572" y="3936491"/>
            <a:ext cx="82296" cy="82296"/>
          </a:xfrm>
          <a:prstGeom prst="ellipse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05772" y="3662172"/>
            <a:ext cx="82296" cy="82296"/>
          </a:xfrm>
          <a:prstGeom prst="ellipse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925812" y="4073652"/>
            <a:ext cx="82296" cy="82296"/>
          </a:xfrm>
          <a:prstGeom prst="ellipse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108692" y="3250692"/>
            <a:ext cx="82296" cy="82296"/>
          </a:xfrm>
          <a:prstGeom prst="ellipse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474452" y="3525012"/>
            <a:ext cx="82296" cy="82296"/>
          </a:xfrm>
          <a:prstGeom prst="ellipse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51492" y="2884932"/>
            <a:ext cx="82296" cy="82296"/>
          </a:xfrm>
          <a:prstGeom prst="ellipse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291572" y="4713732"/>
            <a:ext cx="82296" cy="82296"/>
          </a:xfrm>
          <a:prstGeom prst="ellipse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914131" y="4850892"/>
            <a:ext cx="82296" cy="82296"/>
          </a:xfrm>
          <a:prstGeom prst="ellipse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371331" y="5079492"/>
            <a:ext cx="82296" cy="82296"/>
          </a:xfrm>
          <a:prstGeom prst="ellipse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154412" y="4850892"/>
            <a:ext cx="82296" cy="82296"/>
          </a:xfrm>
          <a:prstGeom prst="ellipse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2286000"/>
            <a:ext cx="8686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8399FF"/>
                </a:solidFill>
                <a:latin typeface="Malgun Gothic"/>
              </a:rPr>
              <a:t>Jet</a:t>
            </a:r>
            <a:r>
              <a:rPr sz="9600" b="1">
                <a:solidFill>
                  <a:srgbClr val="EFEFEA"/>
                </a:solidFill>
                <a:latin typeface="Malgun Gothic"/>
              </a:rPr>
              <a:t>sture</a:t>
            </a:r>
            <a:r>
              <a:rPr sz="9600" b="1">
                <a:solidFill>
                  <a:srgbClr val="8399FF"/>
                </a:solidFill>
                <a:latin typeface="Malgun Gothic"/>
              </a:rPr>
              <a:t>.</a:t>
            </a:r>
          </a:p>
        </p:txBody>
      </p:sp>
      <p:sp>
        <p:nvSpPr>
          <p:cNvPr id="32" name="Freeform 31"/>
          <p:cNvSpPr/>
          <p:nvPr/>
        </p:nvSpPr>
        <p:spPr>
          <a:xfrm rot="2160000">
            <a:off x="7334402" y="2311603"/>
            <a:ext cx="1241755" cy="1235354"/>
          </a:xfrm>
          <a:custGeom>
            <a:avLst/>
            <a:gdLst/>
            <a:ahLst/>
            <a:cxnLst/>
            <a:rect l="l" t="t" r="r" b="b"/>
            <a:pathLst>
              <a:path w="1241755" h="1235354">
                <a:moveTo>
                  <a:pt x="620877" y="0"/>
                </a:moveTo>
                <a:lnTo>
                  <a:pt x="697687" y="409651"/>
                </a:lnTo>
                <a:lnTo>
                  <a:pt x="1241755" y="640080"/>
                </a:lnTo>
                <a:lnTo>
                  <a:pt x="697687" y="691286"/>
                </a:lnTo>
                <a:lnTo>
                  <a:pt x="729691" y="972921"/>
                </a:lnTo>
                <a:lnTo>
                  <a:pt x="876909" y="1100937"/>
                </a:lnTo>
                <a:lnTo>
                  <a:pt x="646481" y="1024128"/>
                </a:lnTo>
                <a:lnTo>
                  <a:pt x="620877" y="1235354"/>
                </a:lnTo>
                <a:lnTo>
                  <a:pt x="595274" y="1024128"/>
                </a:lnTo>
                <a:lnTo>
                  <a:pt x="364846" y="1100937"/>
                </a:lnTo>
                <a:lnTo>
                  <a:pt x="512064" y="972921"/>
                </a:lnTo>
                <a:lnTo>
                  <a:pt x="544068" y="691286"/>
                </a:lnTo>
                <a:lnTo>
                  <a:pt x="0" y="640080"/>
                </a:lnTo>
                <a:lnTo>
                  <a:pt x="544068" y="409651"/>
                </a:lnTo>
                <a:close/>
              </a:path>
            </a:pathLst>
          </a:cu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611112" y="2644444"/>
            <a:ext cx="704088" cy="45720"/>
          </a:xfrm>
          <a:prstGeom prst="roundRect">
            <a:avLst>
              <a:gd name="adj" fmla="val 50000"/>
            </a:avLst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611112" y="2926080"/>
            <a:ext cx="537667" cy="45720"/>
          </a:xfrm>
          <a:prstGeom prst="roundRect">
            <a:avLst>
              <a:gd name="adj" fmla="val 50000"/>
            </a:avLst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611112" y="3182112"/>
            <a:ext cx="640080" cy="45720"/>
          </a:xfrm>
          <a:prstGeom prst="roundRect">
            <a:avLst>
              <a:gd name="adj" fmla="val 50000"/>
            </a:avLst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0392" y="4023360"/>
            <a:ext cx="6949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300" b="0">
                <a:solidFill>
                  <a:srgbClr val="D9DADF"/>
                </a:solidFill>
                <a:latin typeface="Malgun Gothic"/>
              </a:rPr>
              <a:t>제트기처럼 빠른 손동작 인식
손짓으로 즉시 PC 제어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9AA0A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>
                <a:solidFill>
                  <a:srgbClr val="1F44E5"/>
                </a:solidFill>
                <a:latin typeface="Consolas"/>
              </a:rPr>
              <a:t>팀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5F636C"/>
                </a:solidFill>
                <a:latin typeface="Consolas"/>
              </a:rP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3200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00">
                <a:solidFill>
                  <a:srgbClr val="5F636C"/>
                </a:solidFill>
                <a:latin typeface="Consolas"/>
              </a:rPr>
              <a:t>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43030" y="1554480"/>
            <a:ext cx="31637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00">
                <a:solidFill>
                  <a:srgbClr val="5F636C"/>
                </a:solidFill>
                <a:latin typeface="Consolas"/>
              </a:rPr>
              <a:t>팀원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6763" y="1554480"/>
            <a:ext cx="50619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00">
                <a:solidFill>
                  <a:srgbClr val="5F636C"/>
                </a:solidFill>
                <a:latin typeface="Consolas"/>
              </a:rPr>
              <a:t>주요 역할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10545775" cy="25603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213719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1F44E5"/>
                </a:solidFill>
                <a:latin typeface="Malgun Gothic"/>
              </a:rPr>
              <a:t>정적 포즈 인식
YOLO팀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3030" y="2148840"/>
            <a:ext cx="2980852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5171E"/>
                </a:solidFill>
                <a:latin typeface="Malgun Gothic"/>
              </a:rPr>
              <a:t>이건호 (팀장) · 김민정 · 변은아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6763" y="2148840"/>
            <a:ext cx="4924812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5F636C"/>
                </a:solidFill>
                <a:latin typeface="Malgun Gothic"/>
              </a:rPr>
              <a:t>이미지 수집 → 라벨링·증강 → YOLOv8 학습 → 포즈 게이트
</a:t>
            </a:r>
            <a:r>
              <a:rPr sz="1350" b="0">
                <a:solidFill>
                  <a:srgbClr val="1F44E5"/>
                </a:solidFill>
                <a:latin typeface="Malgun Gothic"/>
              </a:rPr>
              <a:t>MediaPipe 시퀀스 수집 지원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794760"/>
            <a:ext cx="10545775" cy="10972"/>
          </a:xfrm>
          <a:prstGeom prst="rect">
            <a:avLst/>
          </a:prstGeom>
          <a:solidFill>
            <a:srgbClr val="E3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213719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0F9E86"/>
                </a:solidFill>
                <a:latin typeface="Malgun Gothic"/>
              </a:rPr>
              <a:t>동적 제스처
시계열팀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3030" y="3886200"/>
            <a:ext cx="2980852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5171E"/>
                </a:solidFill>
                <a:latin typeface="Malgun Gothic"/>
              </a:rPr>
              <a:t>김우진 · 최정민 · 최태순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6763" y="3886200"/>
            <a:ext cx="4924812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5F636C"/>
                </a:solidFill>
                <a:latin typeface="Malgun Gothic"/>
              </a:rPr>
              <a:t>MediaPipe 시퀀스 수집 → GRU·LSTM 비교
→ 실시간 파이프라인·UI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5F636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>
                <a:solidFill>
                  <a:srgbClr val="1F44E5"/>
                </a:solidFill>
                <a:latin typeface="Consolas"/>
              </a:rPr>
              <a:t>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5F636C"/>
                </a:solidFill>
                <a:latin typeface="Consolas"/>
              </a:rPr>
              <a:t>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5171E"/>
                </a:solidFill>
                <a:latin typeface="Malgun Gothic"/>
              </a:rPr>
              <a:t>화면을 </a:t>
            </a:r>
            <a:r>
              <a:rPr sz="3100" b="1">
                <a:solidFill>
                  <a:srgbClr val="1F44E5"/>
                </a:solidFill>
                <a:latin typeface="Malgun Gothic"/>
              </a:rPr>
              <a:t>만지지 않는</a:t>
            </a:r>
            <a:r>
              <a:rPr sz="3100" b="1">
                <a:solidFill>
                  <a:srgbClr val="15171E"/>
                </a:solidFill>
                <a:latin typeface="Malgun Gothic"/>
              </a:rPr>
              <a:t> 조작 방식의 필요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3240938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8986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19272"/>
            <a:ext cx="269229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5171E"/>
                </a:solidFill>
                <a:latin typeface="Malgun Gothic"/>
              </a:rPr>
              <a:t>손이 닿아야만 동작하는
기존 입력 방식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5378" y="2606040"/>
            <a:ext cx="3240938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49698" y="28986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9698" y="3319272"/>
            <a:ext cx="269229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5171E"/>
                </a:solidFill>
                <a:latin typeface="Malgun Gothic"/>
              </a:rPr>
              <a:t>발표·요리·의료처럼
화면 접촉이 어려운 순간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2606040"/>
            <a:ext cx="3240938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02116" y="28986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2116" y="3319272"/>
            <a:ext cx="269229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5171E"/>
                </a:solidFill>
                <a:latin typeface="Malgun Gothic"/>
              </a:rPr>
              <a:t>이미 보급된 웹캠으로
구현하는 비접촉 제어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29200"/>
            <a:ext cx="50292" cy="457200"/>
          </a:xfrm>
          <a:prstGeom prst="rect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2416" y="5047488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5171E"/>
                </a:solidFill>
                <a:latin typeface="Malgun Gothic"/>
              </a:rPr>
              <a:t>웹캠 기반 </a:t>
            </a:r>
            <a:r>
              <a:rPr sz="1800" b="1">
                <a:solidFill>
                  <a:srgbClr val="1F44E5"/>
                </a:solidFill>
                <a:latin typeface="Malgun Gothic"/>
              </a:rPr>
              <a:t>실시간 손동작 제어 시스템</a:t>
            </a:r>
            <a:r>
              <a:rPr sz="1800" b="0">
                <a:solidFill>
                  <a:srgbClr val="15171E"/>
                </a:solidFill>
                <a:latin typeface="Malgun Gothic"/>
              </a:rPr>
              <a:t> 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5F636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>
                <a:solidFill>
                  <a:srgbClr val="1F44E5"/>
                </a:solidFill>
                <a:latin typeface="Consolas"/>
              </a:rPr>
              <a:t>제품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5F636C"/>
                </a:solidFill>
                <a:latin typeface="Consolas"/>
              </a:rPr>
              <a:t>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5171E"/>
                </a:solidFill>
                <a:latin typeface="Malgun Gothic"/>
              </a:rPr>
              <a:t>웹캠 손동작을 </a:t>
            </a:r>
            <a:r>
              <a:rPr sz="3100" b="1">
                <a:solidFill>
                  <a:srgbClr val="1F44E5"/>
                </a:solidFill>
                <a:latin typeface="Malgun Gothic"/>
              </a:rPr>
              <a:t>실시간 단축키</a:t>
            </a:r>
            <a:r>
              <a:rPr sz="3100" b="1">
                <a:solidFill>
                  <a:srgbClr val="15171E"/>
                </a:solidFill>
                <a:latin typeface="Malgun Gothic"/>
              </a:rPr>
              <a:t>로 변환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2177931" cy="960120"/>
          </a:xfrm>
          <a:prstGeom prst="roundRect">
            <a:avLst>
              <a:gd name="adj" fmla="val 11000"/>
            </a:avLst>
          </a:prstGeom>
          <a:solidFill>
            <a:srgbClr val="ECECE7"/>
          </a:solidFill>
          <a:ln w="12700">
            <a:solidFill>
              <a:srgbClr val="E3E3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642616"/>
            <a:ext cx="206820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15171E"/>
                </a:solidFill>
                <a:latin typeface="Malgun Gothic"/>
              </a:rPr>
              <a:t>웹캠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0864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36C"/>
                </a:solidFill>
                <a:latin typeface="Malgun Gothic"/>
              </a:rPr>
              <a:t>30fps 영상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0891" y="2514600"/>
            <a:ext cx="343883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F636C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4775" y="2514600"/>
            <a:ext cx="2521815" cy="96012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99639" y="2642616"/>
            <a:ext cx="24120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15171E"/>
                </a:solidFill>
                <a:latin typeface="Malgun Gothic"/>
              </a:rPr>
              <a:t>손 관절 21개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495" y="2971800"/>
            <a:ext cx="24303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36C"/>
                </a:solidFill>
                <a:latin typeface="Malgun Gothic"/>
              </a:rPr>
              <a:t>MediaPipe 추적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6591" y="2514600"/>
            <a:ext cx="343883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F636C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475" y="2514600"/>
            <a:ext cx="2521815" cy="960120"/>
          </a:xfrm>
          <a:prstGeom prst="roundRect">
            <a:avLst>
              <a:gd name="adj" fmla="val 11000"/>
            </a:avLst>
          </a:prstGeom>
          <a:solidFill>
            <a:srgbClr val="1F44E5"/>
          </a:solidFill>
          <a:ln w="12700">
            <a:solidFill>
              <a:srgbClr val="1F44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5339" y="2642616"/>
            <a:ext cx="24120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algun Gothic"/>
              </a:rPr>
              <a:t>동작 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6195" y="2971800"/>
            <a:ext cx="24303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D4DBFF"/>
                </a:solidFill>
                <a:latin typeface="Malgun Gothic"/>
              </a:rPr>
              <a:t>GRU와 규칙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291" y="2514600"/>
            <a:ext cx="343883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F636C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6175" y="2514600"/>
            <a:ext cx="2292559" cy="960120"/>
          </a:xfrm>
          <a:prstGeom prst="roundRect">
            <a:avLst>
              <a:gd name="adj" fmla="val 11000"/>
            </a:avLst>
          </a:prstGeom>
          <a:solidFill>
            <a:srgbClr val="15171E"/>
          </a:solidFill>
          <a:ln w="12700">
            <a:solidFill>
              <a:srgbClr val="151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31039" y="2642616"/>
            <a:ext cx="218283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algun Gothic"/>
              </a:rPr>
              <a:t>단축키 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1895" y="2971800"/>
            <a:ext cx="22011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B9BBC2"/>
                </a:solidFill>
                <a:latin typeface="Malgun Gothic"/>
              </a:rPr>
              <a:t>창 전환 미디어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40480"/>
            <a:ext cx="5135727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3840480"/>
            <a:ext cx="205429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71E"/>
                </a:solidFill>
                <a:latin typeface="Malgun Gothic"/>
              </a:rPr>
              <a:t>스와이프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77251" y="3840480"/>
            <a:ext cx="282540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50" b="0">
                <a:solidFill>
                  <a:srgbClr val="1F44E5"/>
                </a:solidFill>
                <a:latin typeface="Consolas"/>
              </a:rPr>
              <a:t>다음 창   Tab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3840480"/>
            <a:ext cx="5135727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9039" y="3840480"/>
            <a:ext cx="205429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71E"/>
                </a:solidFill>
                <a:latin typeface="Malgun Gothic"/>
              </a:rPr>
              <a:t>주먹 쥐기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7298" y="3840480"/>
            <a:ext cx="282540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50" b="0">
                <a:solidFill>
                  <a:srgbClr val="1F44E5"/>
                </a:solidFill>
                <a:latin typeface="Consolas"/>
              </a:rPr>
              <a:t>창 목록   Ctrl+Alt+Tab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498848"/>
            <a:ext cx="5135727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4498848"/>
            <a:ext cx="205429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71E"/>
                </a:solidFill>
                <a:latin typeface="Malgun Gothic"/>
              </a:rPr>
              <a:t>핑거 스냅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7251" y="4498848"/>
            <a:ext cx="282540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50" b="0">
                <a:solidFill>
                  <a:srgbClr val="1F44E5"/>
                </a:solidFill>
                <a:latin typeface="Consolas"/>
              </a:rPr>
              <a:t>선택   Enter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007" y="4498848"/>
            <a:ext cx="5135727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9039" y="4498848"/>
            <a:ext cx="205429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171E"/>
                </a:solidFill>
                <a:latin typeface="Malgun Gothic"/>
              </a:rPr>
              <a:t>손바닥 유지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7298" y="4498848"/>
            <a:ext cx="282540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50" b="0">
                <a:solidFill>
                  <a:srgbClr val="1F44E5"/>
                </a:solidFill>
                <a:latin typeface="Consolas"/>
              </a:rPr>
              <a:t>인식 전환   게이트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5440680"/>
            <a:ext cx="50292" cy="457200"/>
          </a:xfrm>
          <a:prstGeom prst="rect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2416" y="5458968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5171E"/>
                </a:solidFill>
                <a:latin typeface="Malgun Gothic"/>
              </a:rPr>
              <a:t>손동작을 원하는 단축키로 </a:t>
            </a:r>
            <a:r>
              <a:rPr sz="1800" b="1">
                <a:solidFill>
                  <a:srgbClr val="1F44E5"/>
                </a:solidFill>
                <a:latin typeface="Malgun Gothic"/>
              </a:rPr>
              <a:t>자유롭게 연결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5F636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>
                <a:solidFill>
                  <a:srgbClr val="1F44E5"/>
                </a:solidFill>
                <a:latin typeface="Consolas"/>
              </a:rPr>
              <a:t>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5F636C"/>
                </a:solidFill>
                <a:latin typeface="Consolas"/>
              </a:rPr>
              <a:t>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F44E5"/>
                </a:solidFill>
                <a:latin typeface="Malgun Gothic"/>
              </a:rPr>
              <a:t>포즈</a:t>
            </a:r>
            <a:r>
              <a:rPr sz="3100" b="1">
                <a:solidFill>
                  <a:srgbClr val="15171E"/>
                </a:solidFill>
                <a:latin typeface="Malgun Gothic"/>
              </a:rPr>
              <a:t>로 켜고 </a:t>
            </a:r>
            <a:r>
              <a:rPr sz="3100" b="1">
                <a:solidFill>
                  <a:srgbClr val="1F44E5"/>
                </a:solidFill>
                <a:latin typeface="Malgun Gothic"/>
              </a:rPr>
              <a:t>손동작</a:t>
            </a:r>
            <a:r>
              <a:rPr sz="3100" b="1">
                <a:solidFill>
                  <a:srgbClr val="15171E"/>
                </a:solidFill>
                <a:latin typeface="Malgun Gothic"/>
              </a:rPr>
              <a:t>으로 실행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6309360" cy="640080"/>
          </a:xfrm>
          <a:prstGeom prst="roundRect">
            <a:avLst>
              <a:gd name="adj" fmla="val 11000"/>
            </a:avLst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39572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YOLOv8 정적 포즈 게이트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688336"/>
            <a:ext cx="5852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BBC2"/>
                </a:solidFill>
                <a:latin typeface="Malgun Gothic"/>
              </a:rPr>
              <a:t>세 포즈를 2초 유지하면 인식 전환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7180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5F636C"/>
                </a:solidFill>
                <a:latin typeface="Malgun Gothic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74720"/>
            <a:ext cx="1579731" cy="960120"/>
          </a:xfrm>
          <a:prstGeom prst="roundRect">
            <a:avLst>
              <a:gd name="adj" fmla="val 11000"/>
            </a:avLst>
          </a:prstGeom>
          <a:solidFill>
            <a:srgbClr val="ECECE7"/>
          </a:solidFill>
          <a:ln w="12700">
            <a:solidFill>
              <a:srgbClr val="E3E3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3602736"/>
            <a:ext cx="147000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15171E"/>
                </a:solidFill>
                <a:latin typeface="Malgun Gothic"/>
              </a:rPr>
              <a:t>손 관절 21개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14882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36C"/>
                </a:solidFill>
                <a:latin typeface="Malgun Gothic"/>
              </a:rPr>
              <a:t>MediaPipe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2691" y="3474720"/>
            <a:ext cx="22201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F636C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24707" y="3474720"/>
            <a:ext cx="1750513" cy="960120"/>
          </a:xfrm>
          <a:prstGeom prst="roundRect">
            <a:avLst>
              <a:gd name="adj" fmla="val 11000"/>
            </a:avLst>
          </a:prstGeom>
          <a:solidFill>
            <a:srgbClr val="ECEEFF"/>
          </a:solidFill>
          <a:ln w="12700">
            <a:solidFill>
              <a:srgbClr val="B9C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79571" y="3602736"/>
            <a:ext cx="164078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15171E"/>
                </a:solidFill>
                <a:latin typeface="Malgun Gothic"/>
              </a:rPr>
              <a:t>① 구간 감지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427" y="3931920"/>
            <a:ext cx="165907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36C"/>
                </a:solidFill>
                <a:latin typeface="Malgun Gothic"/>
              </a:rPr>
              <a:t>정지 → 움직임 → 정지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5221" y="3474720"/>
            <a:ext cx="22201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F636C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7237" y="3474720"/>
            <a:ext cx="1707817" cy="960120"/>
          </a:xfrm>
          <a:prstGeom prst="roundRect">
            <a:avLst>
              <a:gd name="adj" fmla="val 11000"/>
            </a:avLst>
          </a:prstGeom>
          <a:solidFill>
            <a:srgbClr val="1F44E5"/>
          </a:solidFill>
          <a:ln w="12700">
            <a:solidFill>
              <a:srgbClr val="1F44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52101" y="3602736"/>
            <a:ext cx="159808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algun Gothic"/>
              </a:rPr>
              <a:t>② GRU 판정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2957" y="3931920"/>
            <a:ext cx="161637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D4DBFF"/>
                </a:solidFill>
                <a:latin typeface="Malgun Gothic"/>
              </a:rPr>
              <a:t>구간당 1회 4클래스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5055" y="3474720"/>
            <a:ext cx="22201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F636C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27071" y="3474720"/>
            <a:ext cx="1665122" cy="960120"/>
          </a:xfrm>
          <a:prstGeom prst="roundRect">
            <a:avLst>
              <a:gd name="adj" fmla="val 11000"/>
            </a:avLst>
          </a:prstGeom>
          <a:solidFill>
            <a:srgbClr val="ECEEFF"/>
          </a:solidFill>
          <a:ln w="12700">
            <a:solidFill>
              <a:srgbClr val="B9C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1935" y="3602736"/>
            <a:ext cx="155539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15171E"/>
                </a:solidFill>
                <a:latin typeface="Malgun Gothic"/>
              </a:rPr>
              <a:t>③ 동작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791" y="3931920"/>
            <a:ext cx="157368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36C"/>
                </a:solidFill>
                <a:latin typeface="Malgun Gothic"/>
              </a:rPr>
              <a:t>손 모양과 이동량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2194" y="3474720"/>
            <a:ext cx="22201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F636C"/>
                </a:solidFill>
                <a:latin typeface="Malgun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4210" y="3474720"/>
            <a:ext cx="1665122" cy="960120"/>
          </a:xfrm>
          <a:prstGeom prst="roundRect">
            <a:avLst>
              <a:gd name="adj" fmla="val 11000"/>
            </a:avLst>
          </a:prstGeom>
          <a:solidFill>
            <a:srgbClr val="ECEEFF"/>
          </a:solidFill>
          <a:ln w="12700">
            <a:solidFill>
              <a:srgbClr val="B9C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69074" y="3602736"/>
            <a:ext cx="155539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15171E"/>
                </a:solidFill>
                <a:latin typeface="Malgun Gothic"/>
              </a:rPr>
              <a:t>④ 실행 판단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9930" y="3931920"/>
            <a:ext cx="157368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36C"/>
                </a:solidFill>
                <a:latin typeface="Malgun Gothic"/>
              </a:rPr>
              <a:t>확신도와 쿨다운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79332" y="3474720"/>
            <a:ext cx="22201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5F636C"/>
                </a:solidFill>
                <a:latin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01349" y="3474720"/>
            <a:ext cx="1067386" cy="960120"/>
          </a:xfrm>
          <a:prstGeom prst="roundRect">
            <a:avLst>
              <a:gd name="adj" fmla="val 11000"/>
            </a:avLst>
          </a:prstGeom>
          <a:solidFill>
            <a:srgbClr val="15171E"/>
          </a:solidFill>
          <a:ln w="12700">
            <a:solidFill>
              <a:srgbClr val="151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56213" y="3602736"/>
            <a:ext cx="95765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algun Gothic"/>
              </a:rPr>
              <a:t>키 입력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2920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44E5"/>
                </a:solidFill>
                <a:latin typeface="Malgun Gothic"/>
              </a:rPr>
              <a:t>■ </a:t>
            </a:r>
            <a:r>
              <a:rPr sz="1400" b="0">
                <a:solidFill>
                  <a:srgbClr val="5F636C"/>
                </a:solidFill>
                <a:latin typeface="Malgun Gothic"/>
              </a:rPr>
              <a:t>딥러닝 모델        </a:t>
            </a:r>
            <a:r>
              <a:rPr sz="1400" b="0">
                <a:solidFill>
                  <a:srgbClr val="B9C5F6"/>
                </a:solidFill>
                <a:latin typeface="Malgun Gothic"/>
              </a:rPr>
              <a:t>■ </a:t>
            </a:r>
            <a:r>
              <a:rPr sz="1400" b="0">
                <a:solidFill>
                  <a:srgbClr val="5F636C"/>
                </a:solidFill>
                <a:latin typeface="Malgun Gothic"/>
              </a:rPr>
              <a:t>사람이 정한 규칙        </a:t>
            </a:r>
            <a:r>
              <a:rPr sz="1400" b="0">
                <a:solidFill>
                  <a:srgbClr val="15171E"/>
                </a:solidFill>
                <a:latin typeface="Malgun Gothic"/>
              </a:rPr>
              <a:t>■ </a:t>
            </a:r>
            <a:r>
              <a:rPr sz="1400" b="0">
                <a:solidFill>
                  <a:srgbClr val="5F636C"/>
                </a:solidFill>
                <a:latin typeface="Malgun Gothic"/>
              </a:rPr>
              <a:t>입력과 출력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44068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F44E5"/>
                </a:solidFill>
                <a:latin typeface="Consolas"/>
              </a:rPr>
              <a:t>규칙 세 겹이 감싼 4단 검문 구조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5F636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>
                <a:solidFill>
                  <a:srgbClr val="1F44E5"/>
                </a:solidFill>
                <a:latin typeface="Consolas"/>
              </a:rPr>
              <a:t>개발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5F636C"/>
                </a:solidFill>
                <a:latin typeface="Consolas"/>
              </a:rP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5171E"/>
                </a:solidFill>
                <a:latin typeface="Malgun Gothic"/>
              </a:rPr>
              <a:t>가벼운 </a:t>
            </a:r>
            <a:r>
              <a:rPr sz="3100" b="1">
                <a:solidFill>
                  <a:srgbClr val="1F44E5"/>
                </a:solidFill>
                <a:latin typeface="Malgun Gothic"/>
              </a:rPr>
              <a:t>파이썬 단일 스택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24093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인식과 학습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300984"/>
            <a:ext cx="109728" cy="109728"/>
          </a:xfrm>
          <a:prstGeom prst="ellipse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24179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MediaPipe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57015"/>
            <a:ext cx="24179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손 관절 21개 추적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904487"/>
            <a:ext cx="109728" cy="109728"/>
          </a:xfrm>
          <a:prstGeom prst="ellipse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3849624"/>
            <a:ext cx="24179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PyTorch CUDA 12.6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60520"/>
            <a:ext cx="24179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GRU 학습과 추론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507992"/>
            <a:ext cx="109728" cy="109728"/>
          </a:xfrm>
          <a:prstGeom prst="ellipse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4453128"/>
            <a:ext cx="24179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Ultralytics YOLOv8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64024"/>
            <a:ext cx="24179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정적 포즈 게이트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75378" y="2514600"/>
            <a:ext cx="324093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49698" y="2788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앱과 도구</a:t>
            </a:r>
          </a:p>
        </p:txBody>
      </p:sp>
      <p:sp>
        <p:nvSpPr>
          <p:cNvPr id="19" name="Oval 18"/>
          <p:cNvSpPr/>
          <p:nvPr/>
        </p:nvSpPr>
        <p:spPr>
          <a:xfrm>
            <a:off x="4749698" y="3300984"/>
            <a:ext cx="109728" cy="109728"/>
          </a:xfrm>
          <a:prstGeom prst="ellipse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4018" y="3246120"/>
            <a:ext cx="24179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OpenCV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4018" y="3557015"/>
            <a:ext cx="24179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웹캠 캡처와 처리</a:t>
            </a:r>
          </a:p>
        </p:txBody>
      </p:sp>
      <p:sp>
        <p:nvSpPr>
          <p:cNvPr id="22" name="Oval 21"/>
          <p:cNvSpPr/>
          <p:nvPr/>
        </p:nvSpPr>
        <p:spPr>
          <a:xfrm>
            <a:off x="4749698" y="3904487"/>
            <a:ext cx="109728" cy="109728"/>
          </a:xfrm>
          <a:prstGeom prst="ellipse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4018" y="3849624"/>
            <a:ext cx="24179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customtkinter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4018" y="4160520"/>
            <a:ext cx="24179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시연 대시보드 UI</a:t>
            </a:r>
          </a:p>
        </p:txBody>
      </p:sp>
      <p:sp>
        <p:nvSpPr>
          <p:cNvPr id="25" name="Oval 24"/>
          <p:cNvSpPr/>
          <p:nvPr/>
        </p:nvSpPr>
        <p:spPr>
          <a:xfrm>
            <a:off x="4749698" y="4507992"/>
            <a:ext cx="109728" cy="109728"/>
          </a:xfrm>
          <a:prstGeom prst="ellipse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4018" y="4453128"/>
            <a:ext cx="24179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scikit-learn  pandas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4018" y="4764024"/>
            <a:ext cx="24179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평가와 비교 실험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7796" y="2514600"/>
            <a:ext cx="324093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02116" y="2788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0F9E86"/>
                </a:solidFill>
                <a:latin typeface="Consolas"/>
              </a:rPr>
              <a:t>성능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02116" y="3264408"/>
            <a:ext cx="27432" cy="457200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30132" y="3209544"/>
            <a:ext cx="26922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5171E"/>
                </a:solidFill>
                <a:latin typeface="Consolas"/>
              </a:rPr>
              <a:t>30</a:t>
            </a:r>
            <a:r>
              <a:rPr sz="1300" b="0">
                <a:solidFill>
                  <a:srgbClr val="5F636C"/>
                </a:solidFill>
                <a:latin typeface="Consolas"/>
              </a:rPr>
              <a:t> fps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0132" y="3648456"/>
            <a:ext cx="26922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실시간 처리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02116" y="3867911"/>
            <a:ext cx="27432" cy="457200"/>
          </a:xfrm>
          <a:prstGeom prst="rect">
            <a:avLst/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30132" y="3813048"/>
            <a:ext cx="26922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9E86"/>
                </a:solidFill>
                <a:latin typeface="Consolas"/>
              </a:rPr>
              <a:t>1</a:t>
            </a:r>
            <a:r>
              <a:rPr sz="1300" b="0">
                <a:solidFill>
                  <a:srgbClr val="5F636C"/>
                </a:solidFill>
                <a:latin typeface="Consolas"/>
              </a:rPr>
              <a:t> ms 미만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0132" y="4251960"/>
            <a:ext cx="26922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GRU CPU 추론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02116" y="4471416"/>
            <a:ext cx="27432" cy="457200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30132" y="4416552"/>
            <a:ext cx="26922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5171E"/>
                </a:solidFill>
                <a:latin typeface="Consolas"/>
              </a:rPr>
              <a:t>6</a:t>
            </a:r>
            <a:r>
              <a:rPr sz="1300" b="0">
                <a:solidFill>
                  <a:srgbClr val="5F636C"/>
                </a:solidFill>
                <a:latin typeface="Consolas"/>
              </a:rPr>
              <a:t>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0132" y="4855464"/>
            <a:ext cx="26922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YOLO GPU 추론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5257800"/>
            <a:ext cx="50292" cy="457200"/>
          </a:xfrm>
          <a:prstGeom prst="rect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2416" y="5276088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5171E"/>
                </a:solidFill>
                <a:latin typeface="Malgun Gothic"/>
              </a:rPr>
              <a:t>학습은 GPU 실사용은 일반 CPU로 가능한 </a:t>
            </a:r>
            <a:r>
              <a:rPr sz="1800" b="1">
                <a:solidFill>
                  <a:srgbClr val="1F44E5"/>
                </a:solidFill>
                <a:latin typeface="Malgun Gothic"/>
              </a:rPr>
              <a:t>경량 구조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5F636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>
                <a:solidFill>
                  <a:srgbClr val="1F44E5"/>
                </a:solidFill>
                <a:latin typeface="Consolas"/>
              </a:rPr>
              <a:t>데이터 수집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5F636C"/>
                </a:solidFill>
                <a:latin typeface="Consolas"/>
              </a:rPr>
              <a:t>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0F9E86"/>
                </a:solidFill>
                <a:latin typeface="Malgun Gothic"/>
              </a:rPr>
              <a:t>6명이 직접 녹화</a:t>
            </a:r>
            <a:r>
              <a:rPr sz="3100" b="1">
                <a:solidFill>
                  <a:srgbClr val="15171E"/>
                </a:solidFill>
                <a:latin typeface="Malgun Gothic"/>
              </a:rPr>
              <a:t>한 두 종류의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5067147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8072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동적 제스처 (시계열) 약 1,800클립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스와이프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5999" y="3291840"/>
            <a:ext cx="2141067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285999" y="3291840"/>
            <a:ext cx="2141067" cy="310896"/>
          </a:xfrm>
          <a:prstGeom prst="roundRect">
            <a:avLst>
              <a:gd name="adj" fmla="val 24000"/>
            </a:avLst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6795" y="329184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554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75888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주먹 쥐기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5999" y="3675888"/>
            <a:ext cx="2141067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285999" y="3675888"/>
            <a:ext cx="1926960" cy="310896"/>
          </a:xfrm>
          <a:prstGeom prst="roundRect">
            <a:avLst>
              <a:gd name="adj" fmla="val 24000"/>
            </a:avLst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6795" y="3675888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497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59936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핑거 스냅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5999" y="4059936"/>
            <a:ext cx="2141067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285999" y="4059936"/>
            <a:ext cx="1734264" cy="310896"/>
          </a:xfrm>
          <a:prstGeom prst="roundRect">
            <a:avLst>
              <a:gd name="adj" fmla="val 24000"/>
            </a:avLst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36795" y="4059936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450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43984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동작 없음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5999" y="4443984"/>
            <a:ext cx="2141067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285999" y="4443984"/>
            <a:ext cx="1177587" cy="310896"/>
          </a:xfrm>
          <a:prstGeom prst="roundRect">
            <a:avLst>
              <a:gd name="adj" fmla="val 24000"/>
            </a:avLst>
          </a:prstGeom>
          <a:solidFill>
            <a:srgbClr val="C4C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36795" y="4443984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307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1587" y="2514600"/>
            <a:ext cx="5067147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75907" y="28072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정적 포즈 (이미지) 4,561장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5907" y="329184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손바닥 start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3227" y="3291840"/>
            <a:ext cx="1912467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93227" y="3291840"/>
            <a:ext cx="1912467" cy="310896"/>
          </a:xfrm>
          <a:prstGeom prst="roundRect">
            <a:avLst>
              <a:gd name="adj" fmla="val 24000"/>
            </a:avLst>
          </a:prstGeom>
          <a:solidFill>
            <a:srgbClr val="9A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15423" y="329184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1,205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5907" y="367588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취소 cancel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93227" y="3675888"/>
            <a:ext cx="1912467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993227" y="3675888"/>
            <a:ext cx="1797719" cy="310896"/>
          </a:xfrm>
          <a:prstGeom prst="roundRect">
            <a:avLst>
              <a:gd name="adj" fmla="val 24000"/>
            </a:avLst>
          </a:prstGeom>
          <a:solidFill>
            <a:srgbClr val="9A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15423" y="3675888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1,132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5907" y="4059936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주먹 stop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93227" y="4059936"/>
            <a:ext cx="1912467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993227" y="4059936"/>
            <a:ext cx="1625597" cy="310896"/>
          </a:xfrm>
          <a:prstGeom prst="roundRect">
            <a:avLst>
              <a:gd name="adj" fmla="val 24000"/>
            </a:avLst>
          </a:prstGeom>
          <a:solidFill>
            <a:srgbClr val="9A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15423" y="4059936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1,021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5907" y="444398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빈 배경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93227" y="4443984"/>
            <a:ext cx="1912467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993227" y="4443984"/>
            <a:ext cx="1912467" cy="310896"/>
          </a:xfrm>
          <a:prstGeom prst="roundRect">
            <a:avLst>
              <a:gd name="adj" fmla="val 24000"/>
            </a:avLst>
          </a:prstGeom>
          <a:solidFill>
            <a:srgbClr val="C4C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15423" y="4443984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1,203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5166360"/>
            <a:ext cx="50292" cy="457200"/>
          </a:xfrm>
          <a:prstGeom prst="rect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42416" y="5184648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5171E"/>
                </a:solidFill>
                <a:latin typeface="Malgun Gothic"/>
              </a:rPr>
              <a:t>동일한 규약으로 수집하여 </a:t>
            </a:r>
            <a:r>
              <a:rPr sz="1800" b="1">
                <a:solidFill>
                  <a:srgbClr val="1F44E5"/>
                </a:solidFill>
                <a:latin typeface="Malgun Gothic"/>
              </a:rPr>
              <a:t>새로운 사용자까지 검증</a:t>
            </a:r>
            <a:r>
              <a:rPr sz="1800" b="0">
                <a:solidFill>
                  <a:srgbClr val="15171E"/>
                </a:solidFill>
                <a:latin typeface="Malgun Gothic"/>
              </a:rPr>
              <a:t> 가능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5F636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>
                <a:solidFill>
                  <a:srgbClr val="1F44E5"/>
                </a:solidFill>
                <a:latin typeface="Consolas"/>
              </a:rPr>
              <a:t>동적 제스처 모델 (시계열)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5F636C"/>
                </a:solidFill>
                <a:latin typeface="Consolas"/>
              </a:rPr>
              <a:t>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5171E"/>
                </a:solidFill>
                <a:latin typeface="Malgun Gothic"/>
              </a:rPr>
              <a:t>같은 성능에 </a:t>
            </a:r>
            <a:r>
              <a:rPr sz="3100" b="1">
                <a:solidFill>
                  <a:srgbClr val="1F44E5"/>
                </a:solidFill>
                <a:latin typeface="Malgun Gothic"/>
              </a:rPr>
              <a:t>24% 더 가벼운</a:t>
            </a:r>
            <a:r>
              <a:rPr sz="3100" b="1">
                <a:solidFill>
                  <a:srgbClr val="15171E"/>
                </a:solidFill>
                <a:latin typeface="Malgun Gothic"/>
              </a:rPr>
              <a:t> GRU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5067147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8072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정확도 (새로운 사용자 시드 3회)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GRU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79" y="3383280"/>
            <a:ext cx="2415387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011679" y="3383280"/>
            <a:ext cx="2229402" cy="310896"/>
          </a:xfrm>
          <a:prstGeom prst="roundRect">
            <a:avLst>
              <a:gd name="adj" fmla="val 24000"/>
            </a:avLst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6795" y="338328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92.3±2.5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LSTM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79" y="3840480"/>
            <a:ext cx="2415387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011679" y="3840480"/>
            <a:ext cx="2277710" cy="310896"/>
          </a:xfrm>
          <a:prstGeom prst="roundRect">
            <a:avLst>
              <a:gd name="adj" fmla="val 24000"/>
            </a:avLst>
          </a:prstGeom>
          <a:solidFill>
            <a:srgbClr val="9A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6795" y="384048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94.3±1.6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45185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C"/>
                </a:solidFill>
                <a:latin typeface="Malgun Gothic"/>
              </a:rPr>
              <a:t>오차 범위가 겹쳐 셀 종류로는 우열이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1587" y="2514600"/>
            <a:ext cx="5067147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5907" y="28072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파라미터 (같은 구조 · 2계층 64개 노드)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5907" y="3383280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GRU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0307" y="3383280"/>
            <a:ext cx="2415387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90307" y="3383280"/>
            <a:ext cx="1835694" cy="310896"/>
          </a:xfrm>
          <a:prstGeom prst="roundRect">
            <a:avLst>
              <a:gd name="adj" fmla="val 24000"/>
            </a:avLst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15423" y="338328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51,940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5907" y="3840480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LSTM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0307" y="3840480"/>
            <a:ext cx="2415387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90307" y="3840480"/>
            <a:ext cx="2415387" cy="310896"/>
          </a:xfrm>
          <a:prstGeom prst="roundRect">
            <a:avLst>
              <a:gd name="adj" fmla="val 24000"/>
            </a:avLst>
          </a:prstGeom>
          <a:solidFill>
            <a:srgbClr val="C4C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15423" y="384048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68,516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5907" y="4389120"/>
            <a:ext cx="45185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C"/>
                </a:solidFill>
                <a:latin typeface="Malgun Gothic"/>
              </a:rPr>
              <a:t>CPU 추론 1ms 미만   게이트를 3개에서 2개로 축소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212080"/>
            <a:ext cx="50292" cy="457200"/>
          </a:xfrm>
          <a:prstGeom prst="rect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2416" y="5230368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5171E"/>
                </a:solidFill>
                <a:latin typeface="Malgun Gothic"/>
              </a:rPr>
              <a:t>성능이 같다면 </a:t>
            </a:r>
            <a:r>
              <a:rPr sz="1800" b="1">
                <a:solidFill>
                  <a:srgbClr val="1F44E5"/>
                </a:solidFill>
                <a:latin typeface="Malgun Gothic"/>
              </a:rPr>
              <a:t>더 가벼운 GRU</a:t>
            </a:r>
            <a:r>
              <a:rPr sz="1800" b="0">
                <a:solidFill>
                  <a:srgbClr val="15171E"/>
                </a:solidFill>
                <a:latin typeface="Malgun Gothic"/>
              </a:rPr>
              <a:t>가 합리적 선택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5F636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>
                <a:solidFill>
                  <a:srgbClr val="1F44E5"/>
                </a:solidFill>
                <a:latin typeface="Consolas"/>
              </a:rPr>
              <a:t>동적 제스처 성능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5F636C"/>
                </a:solidFill>
                <a:latin typeface="Consolas"/>
              </a:rPr>
              <a:t>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5171E"/>
                </a:solidFill>
                <a:latin typeface="Malgun Gothic"/>
              </a:rPr>
              <a:t>동적 제스처는 </a:t>
            </a:r>
            <a:r>
              <a:rPr sz="3100" b="1">
                <a:solidFill>
                  <a:srgbClr val="0F9E86"/>
                </a:solidFill>
                <a:latin typeface="Malgun Gothic"/>
              </a:rPr>
              <a:t>누구에게나 안정적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5809923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제스처별 인식률 (새로운 사용자 5명 평균)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스와이프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3337560"/>
            <a:ext cx="3066723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03120" y="3337560"/>
            <a:ext cx="3066723" cy="310896"/>
          </a:xfrm>
          <a:prstGeom prst="roundRect">
            <a:avLst>
              <a:gd name="adj" fmla="val 24000"/>
            </a:avLst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79571" y="333756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58184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주먹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758184"/>
            <a:ext cx="3066723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103120" y="3758184"/>
            <a:ext cx="2944054" cy="310896"/>
          </a:xfrm>
          <a:prstGeom prst="roundRect">
            <a:avLst>
              <a:gd name="adj" fmla="val 24000"/>
            </a:avLst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9571" y="3758184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78808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핑거 스냅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178808"/>
            <a:ext cx="3066723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103120" y="4178808"/>
            <a:ext cx="2545380" cy="310896"/>
          </a:xfrm>
          <a:prstGeom prst="roundRect">
            <a:avLst>
              <a:gd name="adj" fmla="val 24000"/>
            </a:avLst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9571" y="4178808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99432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동작 없음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4599432"/>
            <a:ext cx="3066723" cy="310896"/>
          </a:xfrm>
          <a:prstGeom prst="roundRect">
            <a:avLst>
              <a:gd name="adj" fmla="val 24000"/>
            </a:avLst>
          </a:prstGeom>
          <a:solidFill>
            <a:srgbClr val="E9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103120" y="4599432"/>
            <a:ext cx="1901368" cy="310896"/>
          </a:xfrm>
          <a:prstGeom prst="roundRect">
            <a:avLst>
              <a:gd name="adj" fmla="val 24000"/>
            </a:avLst>
          </a:prstGeom>
          <a:solidFill>
            <a:srgbClr val="C4C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79571" y="459943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Consolas"/>
              </a:rPr>
              <a:t>62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35219" y="2514600"/>
            <a:ext cx="433351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09539" y="2788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0F9E86"/>
                </a:solidFill>
                <a:latin typeface="Consolas"/>
              </a:rPr>
              <a:t>핵심 지표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9539" y="3291840"/>
            <a:ext cx="305335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학습에 포함된 사용자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32918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0F9E86"/>
                </a:solidFill>
                <a:latin typeface="Consolas"/>
              </a:rPr>
              <a:t>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09539" y="3730752"/>
            <a:ext cx="3784875" cy="10972"/>
          </a:xfrm>
          <a:prstGeom prst="rect">
            <a:avLst/>
          </a:prstGeom>
          <a:solidFill>
            <a:srgbClr val="E3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09539" y="3840480"/>
            <a:ext cx="305335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새로운 사용자 평균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38404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15171E"/>
                </a:solidFill>
                <a:latin typeface="Consolas"/>
              </a:rPr>
              <a:t>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09539" y="4279392"/>
            <a:ext cx="3784875" cy="10972"/>
          </a:xfrm>
          <a:prstGeom prst="rect">
            <a:avLst/>
          </a:prstGeom>
          <a:solidFill>
            <a:srgbClr val="E3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09539" y="4389120"/>
            <a:ext cx="305335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5171E"/>
                </a:solidFill>
                <a:latin typeface="Malgun Gothic"/>
              </a:rPr>
              <a:t>실시간 15분 오작동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43891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0F9E86"/>
                </a:solidFill>
                <a:latin typeface="Consolas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09539" y="4828031"/>
            <a:ext cx="3784875" cy="10972"/>
          </a:xfrm>
          <a:prstGeom prst="rect">
            <a:avLst/>
          </a:prstGeom>
          <a:solidFill>
            <a:srgbClr val="E3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" y="5257800"/>
            <a:ext cx="50292" cy="457200"/>
          </a:xfrm>
          <a:prstGeom prst="rect">
            <a:avLst/>
          </a:prstGeom>
          <a:solidFill>
            <a:srgbClr val="C97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2416" y="5276088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5171E"/>
                </a:solidFill>
                <a:latin typeface="Malgun Gothic"/>
              </a:rPr>
              <a:t>약점은 사람마다 다른 평상시 손 움직임 </a:t>
            </a:r>
            <a:r>
              <a:rPr sz="1800" b="1">
                <a:solidFill>
                  <a:srgbClr val="C97E29"/>
                </a:solidFill>
                <a:latin typeface="Malgun Gothic"/>
              </a:rPr>
              <a:t>(학습에 포함되면 해소)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5F636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>
                <a:solidFill>
                  <a:srgbClr val="0F9E86"/>
                </a:solidFill>
                <a:latin typeface="Consolas"/>
              </a:rPr>
              <a:t>핵심 성과 ① 정적 포즈 인식 (YOLO)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5F636C"/>
                </a:solidFill>
                <a:latin typeface="Consolas"/>
              </a:rP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>
                <a:solidFill>
                  <a:srgbClr val="15171E"/>
                </a:solidFill>
                <a:latin typeface="Malgun Gothic"/>
              </a:rPr>
              <a:t>가장 가벼운 </a:t>
            </a:r>
            <a:r>
              <a:rPr sz="2900" b="1">
                <a:solidFill>
                  <a:srgbClr val="1F44E5"/>
                </a:solidFill>
                <a:latin typeface="Malgun Gothic"/>
              </a:rPr>
              <a:t>YOLOv8n</a:t>
            </a:r>
            <a:r>
              <a:rPr sz="2900" b="1">
                <a:solidFill>
                  <a:srgbClr val="15171E"/>
                </a:solidFill>
                <a:latin typeface="Malgun Gothic"/>
              </a:rPr>
              <a:t>으로 세 포즈 완벽 분리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4438973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혼동행렬 (검증셋 정규화)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11810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F636C"/>
                </a:solidFill>
                <a:latin typeface="Consolas"/>
              </a:rPr>
              <a:t>cancel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3744" y="311810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F636C"/>
                </a:solidFill>
                <a:latin typeface="Consolas"/>
              </a:rP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311810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F636C"/>
                </a:solidFill>
                <a:latin typeface="Consolas"/>
              </a:rPr>
              <a:t>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661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36C"/>
                </a:solidFill>
                <a:latin typeface="Consolas"/>
              </a:rPr>
              <a:t>cancel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3429000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74519" y="34290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onsolas"/>
              </a:rPr>
              <a:t>1.00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23744" y="3429000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172968" y="3429000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21538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36C"/>
                </a:solidFill>
                <a:latin typeface="Consolas"/>
              </a:rPr>
              <a:t>start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078224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523744" y="4078224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23744" y="407822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onsolas"/>
              </a:rPr>
              <a:t>1.00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72968" y="4078224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86460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36C"/>
                </a:solidFill>
                <a:latin typeface="Consolas"/>
              </a:rPr>
              <a:t>stop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4727448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523744" y="4727448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172968" y="4727448"/>
            <a:ext cx="566928" cy="566928"/>
          </a:xfrm>
          <a:prstGeom prst="roundRect">
            <a:avLst>
              <a:gd name="adj" fmla="val 14000"/>
            </a:avLst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72968" y="47274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onsolas"/>
              </a:rPr>
              <a:t>1.00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4269" y="2514600"/>
            <a:ext cx="5704466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38589" y="2788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0F9E86"/>
                </a:solidFill>
                <a:latin typeface="Consolas"/>
              </a:rPr>
              <a:t>지표와 선택 이유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38589" y="3172968"/>
            <a:ext cx="27432" cy="530352"/>
          </a:xfrm>
          <a:prstGeom prst="rect">
            <a:avLst/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66605" y="3154679"/>
            <a:ext cx="244989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9E86"/>
                </a:solidFill>
                <a:latin typeface="Consolas"/>
              </a:rPr>
              <a:t>0.995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6605" y="3630168"/>
            <a:ext cx="244989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mAP@50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16502" y="3172968"/>
            <a:ext cx="27432" cy="530352"/>
          </a:xfrm>
          <a:prstGeom prst="rect">
            <a:avLst/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44518" y="3154679"/>
            <a:ext cx="244989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9E86"/>
                </a:solidFill>
                <a:latin typeface="Consolas"/>
              </a:rPr>
              <a:t>0.944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4518" y="3630168"/>
            <a:ext cx="244989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mAP@50-95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38589" y="3886200"/>
            <a:ext cx="27432" cy="53035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66605" y="3867912"/>
            <a:ext cx="244989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5171E"/>
                </a:solidFill>
                <a:latin typeface="Consolas"/>
              </a:rPr>
              <a:t>0.999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66605" y="4343400"/>
            <a:ext cx="244989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Precision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16502" y="3886200"/>
            <a:ext cx="27432" cy="53035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44518" y="3867912"/>
            <a:ext cx="244989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5171E"/>
                </a:solidFill>
                <a:latin typeface="Consolas"/>
              </a:rPr>
              <a:t>1.00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4518" y="4343400"/>
            <a:ext cx="244989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Recall</a:t>
            </a:r>
          </a:p>
        </p:txBody>
      </p:sp>
      <p:sp>
        <p:nvSpPr>
          <p:cNvPr id="40" name="Oval 39"/>
          <p:cNvSpPr/>
          <p:nvPr/>
        </p:nvSpPr>
        <p:spPr>
          <a:xfrm>
            <a:off x="5938589" y="4672583"/>
            <a:ext cx="109728" cy="109728"/>
          </a:xfrm>
          <a:prstGeom prst="ellipse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2909" y="4617720"/>
            <a:ext cx="48815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실시간 게이트라 가장 가벼운 n 모델 채택</a:t>
            </a:r>
          </a:p>
        </p:txBody>
      </p:sp>
      <p:sp>
        <p:nvSpPr>
          <p:cNvPr id="42" name="Oval 41"/>
          <p:cNvSpPr/>
          <p:nvPr/>
        </p:nvSpPr>
        <p:spPr>
          <a:xfrm>
            <a:off x="5938589" y="4992624"/>
            <a:ext cx="109728" cy="109728"/>
          </a:xfrm>
          <a:prstGeom prst="ellipse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2909" y="4937760"/>
            <a:ext cx="48815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회전 증강으로 다양한 각도에 대응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5440680"/>
            <a:ext cx="50292" cy="457200"/>
          </a:xfrm>
          <a:prstGeom prst="rect">
            <a:avLst/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42416" y="5458968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5171E"/>
                </a:solidFill>
                <a:latin typeface="Malgun Gothic"/>
              </a:rPr>
              <a:t>세 포즈 오분류 0으로 확보한 안정적 </a:t>
            </a:r>
            <a:r>
              <a:rPr sz="1800" b="1">
                <a:solidFill>
                  <a:srgbClr val="0F9E86"/>
                </a:solidFill>
                <a:latin typeface="Malgun Gothic"/>
              </a:rPr>
              <a:t>인식 스위치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5F636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3A3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>
                <a:solidFill>
                  <a:srgbClr val="3FD3B6"/>
                </a:solidFill>
                <a:latin typeface="Consolas"/>
              </a:rPr>
              <a:t>핵심 성과 ② 실시간 통합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9AA0AC"/>
                </a:solidFill>
                <a:latin typeface="Consolas"/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3FD3B6"/>
                </a:solidFill>
                <a:latin typeface="Malgun Gothic"/>
              </a:rPr>
              <a:t>두 모델</a:t>
            </a:r>
            <a:r>
              <a:rPr sz="3100" b="1">
                <a:solidFill>
                  <a:srgbClr val="EFEFEA"/>
                </a:solidFill>
                <a:latin typeface="Malgun Gothic"/>
              </a:rPr>
              <a:t>을 규칙으로 묶어 실시간 오작동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0" b="1">
                <a:solidFill>
                  <a:srgbClr val="3FD3B6"/>
                </a:solidFill>
                <a:latin typeface="Consolas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9BBC2"/>
                </a:solidFill>
                <a:latin typeface="Malgun Gothic"/>
              </a:rPr>
              <a:t>오작동 (의도와 다른 실행)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2907791"/>
            <a:ext cx="45720" cy="676656"/>
          </a:xfrm>
          <a:prstGeom prst="rect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288036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Consolas"/>
              </a:rPr>
              <a:t>188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61391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9BBC2"/>
                </a:solidFill>
                <a:latin typeface="Malgun Gothic"/>
              </a:rPr>
              <a:t>정상 실행 (스와이프 69  주먹 50  핑거 스냅 69)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2907791"/>
            <a:ext cx="45720" cy="676656"/>
          </a:xfrm>
          <a:prstGeom prst="rect">
            <a:avLst/>
          </a:prstGeom>
          <a:solidFill>
            <a:srgbClr val="83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288036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Consolas"/>
              </a:rPr>
              <a:t>69</a:t>
            </a:r>
            <a:r>
              <a:rPr sz="2100" b="0">
                <a:solidFill>
                  <a:srgbClr val="9AA0AC"/>
                </a:solidFill>
                <a:latin typeface="Consolas"/>
              </a:rPr>
              <a:t>/70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61391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9BBC2"/>
                </a:solidFill>
                <a:latin typeface="Malgun Gothic"/>
              </a:rPr>
              <a:t>스와이프 실행률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17720"/>
            <a:ext cx="50292" cy="457200"/>
          </a:xfrm>
          <a:prstGeom prst="rect">
            <a:avLst/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2416" y="4636007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E8E9EE"/>
                </a:solidFill>
                <a:latin typeface="Malgun Gothic"/>
              </a:rPr>
              <a:t>정적 포즈 게이트(YOLO)와 동적 제스처(GRU)를 </a:t>
            </a:r>
            <a:r>
              <a:rPr sz="1800" b="1">
                <a:solidFill>
                  <a:srgbClr val="3FD3B6"/>
                </a:solidFill>
                <a:latin typeface="Malgun Gothic"/>
              </a:rPr>
              <a:t>규칙으로 통합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2356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399FF"/>
                </a:solidFill>
                <a:latin typeface="Consolas"/>
              </a:rPr>
              <a:t>정적 게이트 YOLO    →    </a:t>
            </a:r>
            <a:r>
              <a:rPr sz="1400" b="0">
                <a:solidFill>
                  <a:srgbClr val="9AA0AC"/>
                </a:solidFill>
                <a:latin typeface="Consolas"/>
              </a:rPr>
              <a:t>구간 감지    →    </a:t>
            </a:r>
            <a:r>
              <a:rPr sz="1400" b="0">
                <a:solidFill>
                  <a:srgbClr val="8399FF"/>
                </a:solidFill>
                <a:latin typeface="Consolas"/>
              </a:rPr>
              <a:t>GRU 판정</a:t>
            </a:r>
            <a:r>
              <a:rPr sz="1400" b="0">
                <a:solidFill>
                  <a:srgbClr val="9AA0AC"/>
                </a:solidFill>
                <a:latin typeface="Consolas"/>
              </a:rPr>
              <a:t>    →    동작 검증    →    실행 판단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9AA0A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>
                <a:solidFill>
                  <a:srgbClr val="1F44E5"/>
                </a:solidFill>
                <a:latin typeface="Consolas"/>
              </a:rPr>
              <a:t>핵심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5F636C"/>
                </a:solidFill>
                <a:latin typeface="Consolas"/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5171E"/>
                </a:solidFill>
                <a:latin typeface="Malgun Gothic"/>
              </a:rPr>
              <a:t>인식을 넘어 </a:t>
            </a:r>
            <a:r>
              <a:rPr sz="3100" b="1">
                <a:solidFill>
                  <a:srgbClr val="1F44E5"/>
                </a:solidFill>
                <a:latin typeface="Malgun Gothic"/>
              </a:rPr>
              <a:t>완성된 데스크톱 앱</a:t>
            </a:r>
            <a:r>
              <a:rPr sz="3100" b="1">
                <a:solidFill>
                  <a:srgbClr val="15171E"/>
                </a:solidFill>
                <a:latin typeface="Malgun Gothic"/>
              </a:rPr>
              <a:t>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5067147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7706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제스처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45185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5171E"/>
                </a:solidFill>
                <a:latin typeface="Malgun Gothic"/>
              </a:rPr>
              <a:t>동적 4종과 정적 3종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47288"/>
            <a:ext cx="45185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36C"/>
                </a:solidFill>
                <a:latin typeface="Malgun Gothic"/>
              </a:rPr>
              <a:t>동적 제스처와 인식을 켜고 끄는 포즈 게이트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2514600"/>
            <a:ext cx="5067147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75907" y="27706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커스터마이즈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5907" y="3063240"/>
            <a:ext cx="45185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5171E"/>
                </a:solidFill>
                <a:latin typeface="Malgun Gothic"/>
              </a:rPr>
              <a:t>키 매핑 자유 편집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5907" y="3447288"/>
            <a:ext cx="45185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36C"/>
                </a:solidFill>
                <a:latin typeface="Malgun Gothic"/>
              </a:rPr>
              <a:t>손동작을 원하는 단축키로 녹화 (프리셋 5종)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5067147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4165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안전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59"/>
            <a:ext cx="45185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5171E"/>
                </a:solidFill>
                <a:latin typeface="Malgun Gothic"/>
              </a:rPr>
              <a:t>연습 모드와 실제 모드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93208"/>
            <a:ext cx="45185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36C"/>
                </a:solidFill>
                <a:latin typeface="Malgun Gothic"/>
              </a:rPr>
              <a:t>키를 누르지 않고 익힌 뒤 실제 입력으로 전환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1587" y="4160520"/>
            <a:ext cx="5067147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75907" y="44165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피드백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5907" y="4709159"/>
            <a:ext cx="45185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5171E"/>
                </a:solidFill>
                <a:latin typeface="Malgun Gothic"/>
              </a:rPr>
              <a:t>실시간 진단 화면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5907" y="5093208"/>
            <a:ext cx="45185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36C"/>
                </a:solidFill>
                <a:latin typeface="Malgun Gothic"/>
              </a:rPr>
              <a:t>관절과 판정 확률을 30fps 대시보드로 표시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486400"/>
            <a:ext cx="50292" cy="457200"/>
          </a:xfrm>
          <a:prstGeom prst="rect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416" y="5504688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5171E"/>
                </a:solidFill>
                <a:latin typeface="Malgun Gothic"/>
              </a:rPr>
              <a:t>OS 단축키를 직접 입력하여 </a:t>
            </a:r>
            <a:r>
              <a:rPr sz="1800" b="1">
                <a:solidFill>
                  <a:srgbClr val="1F44E5"/>
                </a:solidFill>
                <a:latin typeface="Malgun Gothic"/>
              </a:rPr>
              <a:t>어떤 프로그램이든 제어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5F636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>
                <a:solidFill>
                  <a:srgbClr val="1F44E5"/>
                </a:solidFill>
                <a:latin typeface="Consolas"/>
              </a:rPr>
              <a:t>활용과 기대효과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5F636C"/>
                </a:solidFill>
                <a:latin typeface="Consolas"/>
              </a:rP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5171E"/>
                </a:solidFill>
                <a:latin typeface="Malgun Gothic"/>
              </a:rPr>
              <a:t>손동작과 단축키를 잇는
구조의 </a:t>
            </a:r>
            <a:r>
              <a:rPr sz="3100" b="1">
                <a:solidFill>
                  <a:srgbClr val="1F44E5"/>
                </a:solidFill>
                <a:latin typeface="Malgun Gothic"/>
              </a:rPr>
              <a:t>확장성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5067147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1F44E5"/>
                </a:solidFill>
                <a:latin typeface="Consolas"/>
              </a:rPr>
              <a:t>활용처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300984"/>
            <a:ext cx="109728" cy="109728"/>
          </a:xfrm>
          <a:prstGeom prst="ellipse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발표와 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57015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화면에서 떨어져 슬라이드 제어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904487"/>
            <a:ext cx="109728" cy="109728"/>
          </a:xfrm>
          <a:prstGeom prst="ellipse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3849624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미디어 감상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60520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손이 바쁠 때 재생과 정지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507992"/>
            <a:ext cx="109728" cy="109728"/>
          </a:xfrm>
          <a:prstGeom prst="ellipse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4453128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위생 민감 공간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64024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주방과 의료 현장의 비접촉 조작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1587" y="2514600"/>
            <a:ext cx="5067147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5907" y="2788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0F9E86"/>
                </a:solidFill>
                <a:latin typeface="Consolas"/>
              </a:rPr>
              <a:t>기대 효과</a:t>
            </a:r>
          </a:p>
        </p:txBody>
      </p:sp>
      <p:sp>
        <p:nvSpPr>
          <p:cNvPr id="19" name="Oval 18"/>
          <p:cNvSpPr/>
          <p:nvPr/>
        </p:nvSpPr>
        <p:spPr>
          <a:xfrm>
            <a:off x="6575907" y="3300984"/>
            <a:ext cx="109728" cy="109728"/>
          </a:xfrm>
          <a:prstGeom prst="ellipse">
            <a:avLst/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0227" y="3246120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추가 장비 없이 도입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0227" y="3557015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기존 웹캠만으로 동작</a:t>
            </a:r>
          </a:p>
        </p:txBody>
      </p:sp>
      <p:sp>
        <p:nvSpPr>
          <p:cNvPr id="22" name="Oval 21"/>
          <p:cNvSpPr/>
          <p:nvPr/>
        </p:nvSpPr>
        <p:spPr>
          <a:xfrm>
            <a:off x="6575907" y="3904487"/>
            <a:ext cx="109728" cy="109728"/>
          </a:xfrm>
          <a:prstGeom prst="ellipse">
            <a:avLst/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0227" y="3849624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비접촉 접근성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0227" y="4160520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물리 입력이 어려운 사용자 대안</a:t>
            </a:r>
          </a:p>
        </p:txBody>
      </p:sp>
      <p:sp>
        <p:nvSpPr>
          <p:cNvPr id="25" name="Oval 24"/>
          <p:cNvSpPr/>
          <p:nvPr/>
        </p:nvSpPr>
        <p:spPr>
          <a:xfrm>
            <a:off x="6575907" y="4507992"/>
            <a:ext cx="109728" cy="109728"/>
          </a:xfrm>
          <a:prstGeom prst="ellipse">
            <a:avLst/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0227" y="4453128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제스처 확장 용이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0227" y="4764024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데이터만 더해 명령 추가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257800"/>
            <a:ext cx="50292" cy="457200"/>
          </a:xfrm>
          <a:prstGeom prst="rect">
            <a:avLst/>
          </a:prstGeom>
          <a:solidFill>
            <a:srgbClr val="1F4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2416" y="5276088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5171E"/>
                </a:solidFill>
                <a:latin typeface="Malgun Gothic"/>
              </a:rPr>
              <a:t>OS 단축키를 제어하므로 </a:t>
            </a:r>
            <a:r>
              <a:rPr sz="1800" b="1">
                <a:solidFill>
                  <a:srgbClr val="1F44E5"/>
                </a:solidFill>
                <a:latin typeface="Malgun Gothic"/>
              </a:rPr>
              <a:t>스마트홈·게임·키오스크로 확장</a:t>
            </a:r>
            <a:r>
              <a:rPr sz="1800" b="0">
                <a:solidFill>
                  <a:srgbClr val="15171E"/>
                </a:solidFill>
                <a:latin typeface="Malgun Gothic"/>
              </a:rPr>
              <a:t>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5F636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457200"/>
            <a:ext cx="10545775" cy="27432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8204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40">
                <a:solidFill>
                  <a:srgbClr val="C97E29"/>
                </a:solidFill>
                <a:latin typeface="Consolas"/>
              </a:rPr>
              <a:t>개선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566928"/>
            <a:ext cx="52728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spc="70">
                <a:solidFill>
                  <a:srgbClr val="5F636C"/>
                </a:solidFill>
                <a:latin typeface="Consolas"/>
              </a:rP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00" b="1">
                <a:solidFill>
                  <a:srgbClr val="15171E"/>
                </a:solidFill>
                <a:latin typeface="Malgun Gothic"/>
              </a:rPr>
              <a:t>남은 과제와 </a:t>
            </a:r>
            <a:r>
              <a:rPr sz="3100" b="1">
                <a:solidFill>
                  <a:srgbClr val="C97E29"/>
                </a:solidFill>
                <a:latin typeface="Malgun Gothic"/>
              </a:rPr>
              <a:t>발전 방향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5067147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C97E29"/>
                </a:solidFill>
                <a:latin typeface="Consolas"/>
              </a:rPr>
              <a:t>현재 한계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300984"/>
            <a:ext cx="109728" cy="109728"/>
          </a:xfrm>
          <a:prstGeom prst="ellipse">
            <a:avLst/>
          </a:prstGeom>
          <a:solidFill>
            <a:srgbClr val="C97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사람별 동작 없음 편차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57015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새로운 사용자에서 인식률 변동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904487"/>
            <a:ext cx="109728" cy="109728"/>
          </a:xfrm>
          <a:prstGeom prst="ellipse">
            <a:avLst/>
          </a:prstGeom>
          <a:solidFill>
            <a:srgbClr val="C97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3849624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짧은 거리 스와이프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60520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손바닥 하나 이하 동작은 미검출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507992"/>
            <a:ext cx="109728" cy="109728"/>
          </a:xfrm>
          <a:prstGeom prst="ellipse">
            <a:avLst/>
          </a:prstGeom>
          <a:solidFill>
            <a:srgbClr val="C97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4453128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제한된 데이터셋 규모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64024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짧은 개발 기간으로 6명 데이터에 한정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1587" y="2514600"/>
            <a:ext cx="5067147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5907" y="2788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00">
                <a:solidFill>
                  <a:srgbClr val="0F9E86"/>
                </a:solidFill>
                <a:latin typeface="Consolas"/>
              </a:rPr>
              <a:t>개선 방향</a:t>
            </a:r>
          </a:p>
        </p:txBody>
      </p:sp>
      <p:sp>
        <p:nvSpPr>
          <p:cNvPr id="19" name="Oval 18"/>
          <p:cNvSpPr/>
          <p:nvPr/>
        </p:nvSpPr>
        <p:spPr>
          <a:xfrm>
            <a:off x="6575907" y="3300984"/>
            <a:ext cx="109728" cy="109728"/>
          </a:xfrm>
          <a:prstGeom prst="ellipse">
            <a:avLst/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0227" y="3246120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참가자와 스타일 다양화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0227" y="3557015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다양한 동작 없음 사례를 추가 수집</a:t>
            </a:r>
          </a:p>
        </p:txBody>
      </p:sp>
      <p:sp>
        <p:nvSpPr>
          <p:cNvPr id="22" name="Oval 21"/>
          <p:cNvSpPr/>
          <p:nvPr/>
        </p:nvSpPr>
        <p:spPr>
          <a:xfrm>
            <a:off x="6575907" y="3904487"/>
            <a:ext cx="109728" cy="109728"/>
          </a:xfrm>
          <a:prstGeom prst="ellipse">
            <a:avLst/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0227" y="3849624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개인화 보정 few-shot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0227" y="4160520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몇 번의 시연으로 사용자 맞춤</a:t>
            </a:r>
          </a:p>
        </p:txBody>
      </p:sp>
      <p:sp>
        <p:nvSpPr>
          <p:cNvPr id="25" name="Oval 24"/>
          <p:cNvSpPr/>
          <p:nvPr/>
        </p:nvSpPr>
        <p:spPr>
          <a:xfrm>
            <a:off x="6575907" y="4507992"/>
            <a:ext cx="109728" cy="109728"/>
          </a:xfrm>
          <a:prstGeom prst="ellipse">
            <a:avLst/>
          </a:prstGeom>
          <a:solidFill>
            <a:srgbClr val="0F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0227" y="4453128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5171E"/>
                </a:solidFill>
                <a:latin typeface="Malgun Gothic"/>
              </a:rPr>
              <a:t>게이트와 명령 통합 정교화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0227" y="4764024"/>
            <a:ext cx="42441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636C"/>
                </a:solidFill>
                <a:latin typeface="Malgun Gothic"/>
              </a:rPr>
              <a:t>포즈와 명령의 시간 충돌 완화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257800"/>
            <a:ext cx="50292" cy="457200"/>
          </a:xfrm>
          <a:prstGeom prst="rect">
            <a:avLst/>
          </a:prstGeom>
          <a:solidFill>
            <a:srgbClr val="C97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2416" y="5276088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5171E"/>
                </a:solidFill>
                <a:latin typeface="Malgun Gothic"/>
              </a:rPr>
              <a:t>모델 교체가 아닌 </a:t>
            </a:r>
            <a:r>
              <a:rPr sz="1800" b="1">
                <a:solidFill>
                  <a:srgbClr val="C97E29"/>
                </a:solidFill>
                <a:latin typeface="Malgun Gothic"/>
              </a:rPr>
              <a:t>데이터와 규칙의 확장</a:t>
            </a:r>
            <a:r>
              <a:rPr sz="1800" b="0">
                <a:solidFill>
                  <a:srgbClr val="15171E"/>
                </a:solidFill>
                <a:latin typeface="Malgun Gothic"/>
              </a:rPr>
              <a:t>으로 성장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90">
                <a:solidFill>
                  <a:srgbClr val="5F636C"/>
                </a:solidFill>
                <a:latin typeface="Consolas"/>
              </a:rPr>
              <a:t>JETSTURE — 제트기 속도로 반응하는 비접촉 PC 컨트롤러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968</Words>
  <Application>Microsoft Office PowerPoint</Application>
  <PresentationFormat>와이드스크린</PresentationFormat>
  <Paragraphs>258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2026-09-10T08:10:25Z</dcterms:modified>
  <cp:category/>
</cp:coreProperties>
</file>